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FireTwin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5740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D2E1F5"/>
                </a:solidFill>
              </a:rPr>
              <a:t>Intelligent Digital Twin Platform for Real-Time Fire Extinguisher Monitoring &amp; Predictive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33832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6B6D4"/>
                </a:solidFill>
              </a:rPr>
              <a:t>CSE Project / PBL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397763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Srinjoy Paul  •  BWU/BTD/24/064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07492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ECDE1"/>
                </a:solidFill>
              </a:rPr>
              <a:t>From physical extinguisher → IoT telemetry → Digital Twin → AI risk prediction → maintenance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</a:rP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Why traditional fire-extinguisher inspection is not enough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737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4983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Manual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49834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Status, pressure and expiry checks are periodic and can miss changes between inspections.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3492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417320"/>
            <a:ext cx="73152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581912"/>
            <a:ext cx="4983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Scattered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1984248"/>
            <a:ext cx="49834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Extinguisher location, maintenance history and alerts are difficult to track centrally.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20439"/>
            <a:ext cx="53492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20439"/>
            <a:ext cx="73152" cy="1737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685031"/>
            <a:ext cx="4983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Reactive maintenance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87368"/>
            <a:ext cx="49834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A failure may be discovered only during an inspection or emergency.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520439"/>
            <a:ext cx="53492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520439"/>
            <a:ext cx="73152" cy="173736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3685031"/>
            <a:ext cx="4983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Campus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4087368"/>
            <a:ext cx="49834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A university may have many extinguishers distributed across buildings and floors.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FireTwin AI • Intelligent Fire Safety Digital Twin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</a:rPr>
              <a:t>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FireTwin AI creates a live digital representation of physical fire-safety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Connect each extinguisher to a low-cost ESP32 sensor node.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Collect telemetry such as pressure/health indicators, temperature, movement/tamper status and optional weight.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Publish sensor readings using MQTT and push live updates to the web dashboard through WebSockets.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Represent every extinguisher on a campus Digital Twin map with live health/status.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Use AI analytics to estimate failure probability, Remaining Useful Life (RUL) and risk score.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Generate alerts and maintenance work orders so teams can act before failure.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FireTwin AI • Intelligent Fire Safety Digital Twin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</a:rPr>
              <a:t>3. 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How the physical system becomes an intelligent software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19"/>
            <a:ext cx="1645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463EB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2514600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</a:rPr>
              <a:t>Sensors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99232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</a:rPr>
              <a:t>Pressure / Temp / Tilt / 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3976" y="2606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9152" y="1874519"/>
            <a:ext cx="1645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463EB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514600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</a:rPr>
              <a:t>ESP32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6312" y="2999232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</a:rPr>
              <a:t>Reads + packages 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2606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1874519"/>
            <a:ext cx="1645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8264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463EB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514600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</a:rPr>
              <a:t>MQTT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2999232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</a:rPr>
              <a:t>Lightweight IoT messaging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606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1874519"/>
            <a:ext cx="1645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463EB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514600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</a:rPr>
              <a:t>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999232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</a:rPr>
              <a:t>FastAPI + validation +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2606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02167" y="1874519"/>
            <a:ext cx="1645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7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463EB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5" y="2514600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</a:rPr>
              <a:t>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2999232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</a:rPr>
              <a:t>Risk / failure / RUL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4663" y="2606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49839" y="1874519"/>
            <a:ext cx="1645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79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463EB"/>
                </a:solidFill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59567" y="2514600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</a:rPr>
              <a:t>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6999" y="2999232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</a:rPr>
              <a:t>Map + alerts + maintenance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FireTwin AI • Intelligent Fire Safety Digital Twin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</a:rPr>
              <a:t>4. Application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Implemented in the current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52044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1783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Enterprise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92807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KPI cards, live metrics and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52044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73152" cy="1783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49047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Campus Digital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1892807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Interactive extinguisher locations and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325880"/>
            <a:ext cx="352044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325880"/>
            <a:ext cx="73152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49047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Real-Time IoT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892807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MQTT + WebSocket live updates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74720"/>
            <a:ext cx="352044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474720"/>
            <a:ext cx="73152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6393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AI Predictive Maintenance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041648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Failure probability, RUL and risk 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474720"/>
            <a:ext cx="352044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474720"/>
            <a:ext cx="73152" cy="1783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36393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Asset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4041648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CRUD, search/filtering and maintenance scheduling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474720"/>
            <a:ext cx="352044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474720"/>
            <a:ext cx="73152" cy="1783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76488" y="36393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Secure RBAC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041648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Super Admin, Safety Officer and Technician roles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FireTwin AI • Intelligent Fire Safety Digital Twin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</a:rPr>
              <a:t>5.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Software architecture from the uploaded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234440"/>
            <a:ext cx="101498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3533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IoT / Device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44168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ESP32-based sensor nodes • current prototype uses an IoT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221992"/>
            <a:ext cx="101498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3408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463EB"/>
                </a:solidFill>
              </a:rPr>
              <a:t>Messaging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3172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Eclipse Mosquitto MQTT broker • port 1883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209544"/>
            <a:ext cx="101498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3284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Application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319272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FastAPI backend • REST APIs • WebSockets • JWT/RBAC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197096"/>
            <a:ext cx="101498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315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306824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PostgreSQL 15 • users • assets • sensor readings • maintenance logs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184648"/>
            <a:ext cx="101498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Presentation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294376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React 18 + Vite + TypeScript + Tailwind + Chart.js + map visualization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FireTwin AI • Intelligent Fire Safety Digital Twin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</a:rPr>
              <a:t>6. AI-Powered Predictive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Move from inspection schedules to risk-driven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1965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36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Failure Probability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Estimate the likelihood that an extinguisher may enter an unsafe/failure condition based on telemetry and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196596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36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Remaining Useful Life (RUL)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38528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Estimate how much useful operating time remains before maintenance becomes necessary.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73152" cy="1965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536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Risk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38528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Combine asset condition and predicted failure risk into a simple operational priority.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1B2A"/>
                </a:solidFill>
              </a:rPr>
              <a:t>Decision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348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463EB"/>
                </a:solidFill>
              </a:rPr>
              <a:t>Telemetry → Feature extraction → Prediction → Risk ranking → Alert → Work order → Maintenance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FireTwin AI • Intelligent Fire Safety Digital Twin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</a:rPr>
              <a:t>7. Recommended IoT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Practical low-cost node for one extinguisher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2743200" cy="502920"/>
          </a:xfrm>
          <a:prstGeom prst="rect">
            <a:avLst/>
          </a:prstGeom>
          <a:solidFill>
            <a:srgbClr val="0D1B2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441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234440"/>
            <a:ext cx="4572000" cy="502920"/>
          </a:xfrm>
          <a:prstGeom prst="rect">
            <a:avLst/>
          </a:prstGeom>
          <a:solidFill>
            <a:srgbClr val="0D1B2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39" y="134416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1234440"/>
            <a:ext cx="1554480" cy="502920"/>
          </a:xfrm>
          <a:prstGeom prst="rect">
            <a:avLst/>
          </a:prstGeom>
          <a:solidFill>
            <a:srgbClr val="0D1B2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344168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Indicative price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72600" y="1234440"/>
            <a:ext cx="1188720" cy="502920"/>
          </a:xfrm>
          <a:prstGeom prst="rect">
            <a:avLst/>
          </a:prstGeom>
          <a:solidFill>
            <a:srgbClr val="0D1B2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1344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Qty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737360"/>
            <a:ext cx="2743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1837944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</a:rPr>
              <a:t>ESP32 Wi‑Fi MCU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737360"/>
            <a:ext cx="4572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00984" y="1837944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</a:rPr>
              <a:t>Wi‑Fi + BLE controller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1737360"/>
            <a:ext cx="1554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2984" y="1837944"/>
            <a:ext cx="1444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</a:rPr>
              <a:t>₹343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72600" y="1737360"/>
            <a:ext cx="11887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27464" y="1837944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267712"/>
            <a:ext cx="2743200" cy="530352"/>
          </a:xfrm>
          <a:prstGeom prst="rect">
            <a:avLst/>
          </a:prstGeom>
          <a:solidFill>
            <a:srgbClr val="EE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" y="2368296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</a:rPr>
              <a:t>Pressure / condition sensor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2267712"/>
            <a:ext cx="4572000" cy="530352"/>
          </a:xfrm>
          <a:prstGeom prst="rect">
            <a:avLst/>
          </a:prstGeom>
          <a:solidFill>
            <a:srgbClr val="EE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00984" y="2368296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</a:rPr>
              <a:t>Primary health indicator; final sensor should match extinguisher type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2267712"/>
            <a:ext cx="1554480" cy="530352"/>
          </a:xfrm>
          <a:prstGeom prst="rect">
            <a:avLst/>
          </a:prstGeom>
          <a:solidFill>
            <a:srgbClr val="EE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4" y="2368296"/>
            <a:ext cx="1444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</a:rPr>
              <a:t>₹459*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2267712"/>
            <a:ext cx="1188720" cy="530352"/>
          </a:xfrm>
          <a:prstGeom prst="rect">
            <a:avLst/>
          </a:prstGeom>
          <a:solidFill>
            <a:srgbClr val="EE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27464" y="2368296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798064"/>
            <a:ext cx="2743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" y="289864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</a:rPr>
              <a:t>DS18B20 temperature probe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2798064"/>
            <a:ext cx="4572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00984" y="2898648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</a:rPr>
              <a:t>Ambient/asset temperature trend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2798064"/>
            <a:ext cx="1554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72984" y="2898648"/>
            <a:ext cx="1444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</a:rPr>
              <a:t>₹259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72600" y="2798064"/>
            <a:ext cx="11887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27464" y="28986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328415"/>
            <a:ext cx="2743200" cy="530352"/>
          </a:xfrm>
          <a:prstGeom prst="rect">
            <a:avLst/>
          </a:prstGeom>
          <a:solidFill>
            <a:srgbClr val="EE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" y="3428999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</a:rPr>
              <a:t>Tilt / tamper sensor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328415"/>
            <a:ext cx="4572000" cy="530352"/>
          </a:xfrm>
          <a:prstGeom prst="rect">
            <a:avLst/>
          </a:prstGeom>
          <a:solidFill>
            <a:srgbClr val="EE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00984" y="3428999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</a:rPr>
              <a:t>Detect movement, removal or abnormal orientation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18120" y="3328415"/>
            <a:ext cx="1554480" cy="530352"/>
          </a:xfrm>
          <a:prstGeom prst="rect">
            <a:avLst/>
          </a:prstGeom>
          <a:solidFill>
            <a:srgbClr val="EE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72984" y="3428999"/>
            <a:ext cx="1444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</a:rPr>
              <a:t>₹324*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72600" y="3328415"/>
            <a:ext cx="1188720" cy="530352"/>
          </a:xfrm>
          <a:prstGeom prst="rect">
            <a:avLst/>
          </a:prstGeom>
          <a:solidFill>
            <a:srgbClr val="EE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27464" y="3428999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858768"/>
            <a:ext cx="2743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784" y="3959352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</a:rPr>
              <a:t>5 kg load cell + HX711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46120" y="3858768"/>
            <a:ext cx="4572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00984" y="3959352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</a:rPr>
              <a:t>Optional weight-based charge check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18120" y="3858768"/>
            <a:ext cx="1554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72984" y="3959352"/>
            <a:ext cx="1444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</a:rPr>
              <a:t>₹549*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72600" y="3858768"/>
            <a:ext cx="11887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27464" y="395935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</a:rPr>
              <a:t>1 set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4389120"/>
            <a:ext cx="2743200" cy="530352"/>
          </a:xfrm>
          <a:prstGeom prst="rect">
            <a:avLst/>
          </a:prstGeom>
          <a:solidFill>
            <a:srgbClr val="EE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7784" y="4489704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</a:rPr>
              <a:t>Buzzer + status LED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46120" y="4389120"/>
            <a:ext cx="4572000" cy="530352"/>
          </a:xfrm>
          <a:prstGeom prst="rect">
            <a:avLst/>
          </a:prstGeom>
          <a:solidFill>
            <a:srgbClr val="EE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00984" y="4489704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</a:rPr>
              <a:t>Local alarm / service indication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18120" y="4389120"/>
            <a:ext cx="1554480" cy="530352"/>
          </a:xfrm>
          <a:prstGeom prst="rect">
            <a:avLst/>
          </a:prstGeom>
          <a:solidFill>
            <a:srgbClr val="EE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72984" y="4489704"/>
            <a:ext cx="1444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</a:rPr>
              <a:t>₹20 + ₹19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72600" y="4389120"/>
            <a:ext cx="1188720" cy="530352"/>
          </a:xfrm>
          <a:prstGeom prst="rect">
            <a:avLst/>
          </a:prstGeom>
          <a:solidFill>
            <a:srgbClr val="EE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27464" y="4489704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</a:rPr>
              <a:t>1 each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919472"/>
            <a:ext cx="2743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7784" y="5020056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</a:rPr>
              <a:t>Power + enclosure + wiring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46120" y="4919472"/>
            <a:ext cx="4572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00984" y="5020056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</a:rPr>
              <a:t>Battery/USB pack, holder, connectors, weather-resistant box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18120" y="4919472"/>
            <a:ext cx="1554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72984" y="5020056"/>
            <a:ext cx="1444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</a:rPr>
              <a:t>₹350–₹600†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72600" y="4919472"/>
            <a:ext cx="11887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27464" y="5020056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55321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* Price is an indicative current listing from Indian electronics supplier pages; exact industrial pressure hardware may cost more.  † Budget allowance for enclosure/power/wiring.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FireTwin AI • Intelligent Fire Safety Digital Twin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</a:rPr>
              <a:t>8. Estimated IoT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Budget-oriented deployment estimate for India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102412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344168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Core electronics + sensors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32588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463EB"/>
                </a:solidFill>
              </a:rPr>
              <a:t>₹1,374–₹1,674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47672"/>
            <a:ext cx="102412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Assembly / wiring / enclosure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3911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463EB"/>
                </a:solidFill>
              </a:rPr>
              <a:t>₹350–₹600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660904"/>
            <a:ext cx="102412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770632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Estimated per-extinguisher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75234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463EB"/>
                </a:solidFill>
              </a:rPr>
              <a:t>₹1,724–₹2,274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374136"/>
            <a:ext cx="102412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483864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10-extinguisher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46557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463EB"/>
                </a:solidFill>
              </a:rPr>
              <a:t>₹17,240–₹22,740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87368"/>
            <a:ext cx="102412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197096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Software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17880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463EB"/>
                </a:solidFill>
              </a:rPr>
              <a:t>₹0 prototype / open-source stack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00600"/>
            <a:ext cx="102412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910328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Existing prototype hardware need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9204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463EB"/>
                </a:solidFill>
              </a:rPr>
              <a:t>₹0 — sensor data is currently simulated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</a:rPr>
              <a:t>Cost-saving choice: use one ESP32 node per extinguisher and campus Wi‑Fi/MQTT instead of a cellular modem per device.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FireTwin AI • Intelligent Fire Safety Digital Twin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</a:rPr>
              <a:t>9. What Is Already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Prototype status from project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React web client for Digital Twin visualization and extinguisher monitoring.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FastAPI backend for data processing, APIs and secure communication.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MQTT-based real-time communication and WebSocket live updates.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PostgreSQL storage for users, buildings, extinguishers, sensor readings, maintenance logs and alerts.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AI prediction prototype: failure probability, RUL estimation and risk scoring.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Interactive campus map, live KPI dashboard, CRUD operations, search/filtering and maintenance scheduling.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Dockerized stack: React + FastAPI + PostgreSQL + Eclipse Mosquitto.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</a:rPr>
              <a:t>Important: the current repository includes an ESP32 IoT simulator, so the physical sensor node is a future deployment layer rather than a prerequisite for the software demo.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FireTwin AI • Intelligent Fire Safety Digital Twin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</a:rPr>
              <a:t>10. User Roles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Role-based access for campus safety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3383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Super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31546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System configuration</a:t>
            </a:r>
            <a:br/>
            <a:r>
              <a:t>User/admin management</a:t>
            </a:r>
            <a:br/>
            <a:r>
              <a:t>API keys &amp; integrations</a:t>
            </a:r>
            <a:br/>
            <a:r>
              <a:t>Campus map &amp; asset CRUD</a:t>
            </a:r>
            <a:br/>
            <a:r>
              <a:t>IoT simulation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73152" cy="33832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819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Safety Officer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84248"/>
            <a:ext cx="31546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Real-time telemetry</a:t>
            </a:r>
            <a:br/>
            <a:r>
              <a:t>Campus map</a:t>
            </a:r>
            <a:br/>
            <a:r>
              <a:t>Alert triage</a:t>
            </a:r>
            <a:br/>
            <a:r>
              <a:t>Maintenance assignment</a:t>
            </a:r>
            <a:br/>
            <a:r>
              <a:t>Incident handling &amp;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3383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819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Field Technician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84248"/>
            <a:ext cx="31546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Assigned work orders</a:t>
            </a:r>
            <a:br/>
            <a:r>
              <a:t>Physical inspection records</a:t>
            </a:r>
            <a:br/>
            <a:r>
              <a:t>Maintenance logs</a:t>
            </a:r>
            <a:br/>
            <a:r>
              <a:t>Sensor connectivity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FireTwin AI • Intelligent Fire Safety Digital Twin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</a:rPr>
              <a:t>11. Impact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Why this solution matters for a university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52044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1783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Proactive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92807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Detect abnormal trends earlier and prioritize risky assets.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52044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73152" cy="1783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49047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Reduced manual effort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1892807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Central dashboard replaces fragmented inspection tracking.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325880"/>
            <a:ext cx="352044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325880"/>
            <a:ext cx="73152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49047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Faster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892807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Live alerts and location-aware asset data support quicker 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74720"/>
            <a:ext cx="352044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474720"/>
            <a:ext cx="73152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6393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Data-driven maintenance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041648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AI risk scores help allocate technician time where it matters most.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474720"/>
            <a:ext cx="352044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474720"/>
            <a:ext cx="73152" cy="1783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36393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Scalable campus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4041648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The same architecture can expand from 10 devices to hundreds of assets.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474720"/>
            <a:ext cx="352044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474720"/>
            <a:ext cx="73152" cy="1783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76488" y="36393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Auditability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041648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Digital records create a traceable history of inspections, alerts and maintenance.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FireTwin AI • Intelligent Fire Safety Digital Twin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</a:rPr>
              <a:t>12.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From prototype to campus-ready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Replace simulated telemetry with calibrated physical ESP32 sensor nodes.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Use an industrial-grade pressure transducer appropriate to the extinguisher model and operating range.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Add battery-health monitoring and low-power sleep cycles for longer field operation.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Add LoRaWAN or another campus-wide low-power network option where Wi‑Fi coverage is insufficient.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Train/validate predictive models on real historical sensor + maintenance data.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Add mobile notifications, technician navigation and QR/NFC asset identification.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Introduce device provisioning, OTA firmware updates and production-grade security/certificates.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FireTwin AI • Intelligent Fire Safety Digital Twin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13.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7373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DCEBFA"/>
                </a:solidFill>
              </a:rPr>
              <a:t>FireTwin AI transforms fire-extinguisher safety from periodic inspection into a continuous, intelligent monitoring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15468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6B6D4"/>
                </a:solidFill>
              </a:rPr>
              <a:t>Low-cost IoT + MQTT + Digital Twin + AI + Predictive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70916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5486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ECDE1"/>
                </a:solidFill>
              </a:rPr>
              <a:t>Srinjoy Paul  •  BWU/BTD/24/064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</a:rPr>
              <a:t>14. Hardware Price Sources &amp;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Prices are indicative listings checked for this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Robu.in — ESP32-WROOM-32 38-pin development board: about ₹343 (listing observed).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Robu.in — BME280 temperature/humidity/pressure module: about ₹459; used only as an indicative low-cost environmental sensor reference.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Robu.in — DS18B20 waterproof temperature probe: about ₹259.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Robu.in — HX711 amplifier: about ₹104; DIY 5 kg load-cell + HX711 kit listed around ₹549.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Robu.in — Grove tilt switch: about ₹324; simple discrete tilt/tamper parts can be cheaper.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Robu.in — basic buzzer listings start around ₹17–₹20 and simple LED modules around ₹19–₹25.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These are component-market prices, not a certified fire-extinguisher instrumentation quote. For real deployment, select sensors certified/suitable for the extinguisher type, pressure range, environment and mounting method.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463EB"/>
                </a:solidFill>
              </a:rPr>
              <a:t>Software/project source: uploaded FireTwin AI README and project documentation.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FireTwin AI • Intelligent Fire Safety Digital Twin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